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726BAA9-D802-4C69-A346-93D31CEA5A04}" v="45" dt="2026-04-06T09:36:39.6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BB35B-15DF-1563-E1E6-3845FCA76C0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3E6EE55-FF90-A823-16A1-6F6450F84EF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6DA645E6-E02A-630E-9E35-B5509852492A}"/>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5" name="Footer Placeholder 4">
            <a:extLst>
              <a:ext uri="{FF2B5EF4-FFF2-40B4-BE49-F238E27FC236}">
                <a16:creationId xmlns:a16="http://schemas.microsoft.com/office/drawing/2014/main" id="{8D67CFF2-04C4-D152-4B8C-AFED00A055A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AAB12CE-DCE2-96EF-7CEE-8E5D563EEC96}"/>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10168189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A16BCA-7DA4-AC5D-DB5B-BF00F775EB7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7EA1BD7-71AC-9349-A609-C51E816F4E9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8B6FAA-61B0-77BB-CEF0-F1CF07A34D69}"/>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5" name="Footer Placeholder 4">
            <a:extLst>
              <a:ext uri="{FF2B5EF4-FFF2-40B4-BE49-F238E27FC236}">
                <a16:creationId xmlns:a16="http://schemas.microsoft.com/office/drawing/2014/main" id="{2396C92B-15E0-3E8F-AD28-102BD8E9B89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3FF385-A966-EA8E-0ECE-49D772CAFE8A}"/>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32522100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08E79-18B3-6824-A352-5DD67F9E089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FF9A1D8-509A-42D0-50B0-76D2447C331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9907469-EB53-4791-3819-CB948CDA0E83}"/>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5" name="Footer Placeholder 4">
            <a:extLst>
              <a:ext uri="{FF2B5EF4-FFF2-40B4-BE49-F238E27FC236}">
                <a16:creationId xmlns:a16="http://schemas.microsoft.com/office/drawing/2014/main" id="{4CB43A63-86B2-56C2-146C-375C09EF77D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DEB58CA-558F-0BA3-2E77-81074CAA5A76}"/>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14457675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4720D9-4F99-6D14-D995-CAA15D3F8FD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F599739-08A2-9366-52EB-7D3C17D39C6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11E9B05-C5F0-60AB-4006-D800F2FCBCB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5445333-A7F4-9901-56FD-ACDD167DEB4D}"/>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6" name="Footer Placeholder 5">
            <a:extLst>
              <a:ext uri="{FF2B5EF4-FFF2-40B4-BE49-F238E27FC236}">
                <a16:creationId xmlns:a16="http://schemas.microsoft.com/office/drawing/2014/main" id="{07A76C3F-6B03-39CA-5636-A61F11DF679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00F9D20D-CA3D-5E6B-0E76-D97F909C1A64}"/>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24137980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D97F43-199E-9BCE-4D50-8954E0BE8A10}"/>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96944D7-22FF-36E1-07F6-22B641C1A8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CD578C-0C27-36FD-D472-D82FECC0B42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E7E7AE5-1AAE-E65C-8B3C-DFFEBDDFC6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CFE1B1-3F36-0693-EC88-BD4DD6BA761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BFBC6DC3-E138-7203-3032-7A1B1C8F72CB}"/>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8" name="Footer Placeholder 7">
            <a:extLst>
              <a:ext uri="{FF2B5EF4-FFF2-40B4-BE49-F238E27FC236}">
                <a16:creationId xmlns:a16="http://schemas.microsoft.com/office/drawing/2014/main" id="{04CA86E1-47F6-C489-4161-38C1E5B295A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4572C850-8984-D4A3-A7DE-A2403DF600F5}"/>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2823125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610CE-4398-0C10-BE9E-9D6A4199D13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9E4C36B-338F-4187-B505-9F3CCC6AA265}"/>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4" name="Footer Placeholder 3">
            <a:extLst>
              <a:ext uri="{FF2B5EF4-FFF2-40B4-BE49-F238E27FC236}">
                <a16:creationId xmlns:a16="http://schemas.microsoft.com/office/drawing/2014/main" id="{DC00D226-7EC5-6E85-9BBB-1CCA90967EAC}"/>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2EED67B-ACA7-C075-7748-E1BB773FAA8D}"/>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2752969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5109B3-7EF0-CD32-1BFA-5328B75A014E}"/>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3" name="Footer Placeholder 2">
            <a:extLst>
              <a:ext uri="{FF2B5EF4-FFF2-40B4-BE49-F238E27FC236}">
                <a16:creationId xmlns:a16="http://schemas.microsoft.com/office/drawing/2014/main" id="{5FEA2E8F-C387-572C-CD62-8CF7A66F6BC4}"/>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ED60C2C-1F2B-51AB-C9F8-19DB99925E14}"/>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36456199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C6AEC-9BA0-FC55-91D9-596305A8DE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C0FD214-E3F2-EEB2-2959-022E2A6FF66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C20B84B-ADF1-B398-7318-B2C5B1F957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3AFB36-A21B-414B-9428-9E72946DE6BA}"/>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6" name="Footer Placeholder 5">
            <a:extLst>
              <a:ext uri="{FF2B5EF4-FFF2-40B4-BE49-F238E27FC236}">
                <a16:creationId xmlns:a16="http://schemas.microsoft.com/office/drawing/2014/main" id="{C1F86F34-1B4B-6F27-5041-44614842D3C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EA251D5-4BB1-F69B-6B1F-7E84E1620B4F}"/>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3242675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B82E39-BD9F-5C3C-D08A-AB8A6285B5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BB602E83-9BBB-546C-6579-DB768999448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2681896-3FD0-751E-CB7B-EA1C04BDBB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28E466-427F-63B4-ED25-284497B2E737}"/>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6" name="Footer Placeholder 5">
            <a:extLst>
              <a:ext uri="{FF2B5EF4-FFF2-40B4-BE49-F238E27FC236}">
                <a16:creationId xmlns:a16="http://schemas.microsoft.com/office/drawing/2014/main" id="{EB59ABBE-94A1-F6B9-10C0-40671AE59B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D934366-3637-7934-0DF7-A5830FB116EB}"/>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28438535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A7C403-1CBB-80EC-73A8-3EDB4CFC9EC9}"/>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F964E7E-9512-F79C-3FD5-4EBFF865A8E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E84D681-3469-5E46-6E8F-BB3E5942BC78}"/>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5" name="Footer Placeholder 4">
            <a:extLst>
              <a:ext uri="{FF2B5EF4-FFF2-40B4-BE49-F238E27FC236}">
                <a16:creationId xmlns:a16="http://schemas.microsoft.com/office/drawing/2014/main" id="{C24237A4-C073-9A53-503A-8B3D7CE913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69EE962-73F4-EA2D-AED4-1273FAF7640A}"/>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1275570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0782872-BD1F-5FE4-6E63-AD318388EC3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C91EE48-43E8-58C9-147D-9441A517742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85C8A8-3FED-5156-3D67-A68A70FF666A}"/>
              </a:ext>
            </a:extLst>
          </p:cNvPr>
          <p:cNvSpPr>
            <a:spLocks noGrp="1"/>
          </p:cNvSpPr>
          <p:nvPr>
            <p:ph type="dt" sz="half" idx="10"/>
          </p:nvPr>
        </p:nvSpPr>
        <p:spPr/>
        <p:txBody>
          <a:bodyPr/>
          <a:lstStyle/>
          <a:p>
            <a:fld id="{420D403A-96C4-4E6D-A71F-8A0C524F883B}" type="datetimeFigureOut">
              <a:rPr lang="en-IN" smtClean="0"/>
              <a:t>06-04-2026</a:t>
            </a:fld>
            <a:endParaRPr lang="en-IN"/>
          </a:p>
        </p:txBody>
      </p:sp>
      <p:sp>
        <p:nvSpPr>
          <p:cNvPr id="5" name="Footer Placeholder 4">
            <a:extLst>
              <a:ext uri="{FF2B5EF4-FFF2-40B4-BE49-F238E27FC236}">
                <a16:creationId xmlns:a16="http://schemas.microsoft.com/office/drawing/2014/main" id="{DF18C20D-3E76-6CC2-EA7D-E05C92D04D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2F1B5D8-51DD-5D53-BABF-6B8E5E54861A}"/>
              </a:ext>
            </a:extLst>
          </p:cNvPr>
          <p:cNvSpPr>
            <a:spLocks noGrp="1"/>
          </p:cNvSpPr>
          <p:nvPr>
            <p:ph type="sldNum" sz="quarter" idx="12"/>
          </p:nvPr>
        </p:nvSpPr>
        <p:spPr/>
        <p:txBody>
          <a:bodyPr/>
          <a:lstStyle/>
          <a:p>
            <a:fld id="{A0FBF9F6-EF0C-42F6-AD23-B39F56094C11}" type="slidenum">
              <a:rPr lang="en-IN" smtClean="0"/>
              <a:t>‹#›</a:t>
            </a:fld>
            <a:endParaRPr lang="en-IN"/>
          </a:p>
        </p:txBody>
      </p:sp>
    </p:spTree>
    <p:extLst>
      <p:ext uri="{BB962C8B-B14F-4D97-AF65-F5344CB8AC3E}">
        <p14:creationId xmlns:p14="http://schemas.microsoft.com/office/powerpoint/2010/main" val="764708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B90BA52-6A8D-EDB3-CBD0-0AAD804FABD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4128725-ED4F-0BC9-E489-8DF39A73F6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ED81F21-289C-BD44-047B-155F9FB921E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0D403A-96C4-4E6D-A71F-8A0C524F883B}" type="datetimeFigureOut">
              <a:rPr lang="en-IN" smtClean="0"/>
              <a:t>06-04-2026</a:t>
            </a:fld>
            <a:endParaRPr lang="en-IN"/>
          </a:p>
        </p:txBody>
      </p:sp>
      <p:sp>
        <p:nvSpPr>
          <p:cNvPr id="5" name="Footer Placeholder 4">
            <a:extLst>
              <a:ext uri="{FF2B5EF4-FFF2-40B4-BE49-F238E27FC236}">
                <a16:creationId xmlns:a16="http://schemas.microsoft.com/office/drawing/2014/main" id="{837B1A81-041A-5B2C-CADF-7173BB18DD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889948D-7CCA-4327-C4DE-AA33A24A473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0FBF9F6-EF0C-42F6-AD23-B39F56094C11}" type="slidenum">
              <a:rPr lang="en-IN" smtClean="0"/>
              <a:t>‹#›</a:t>
            </a:fld>
            <a:endParaRPr lang="en-IN"/>
          </a:p>
        </p:txBody>
      </p:sp>
    </p:spTree>
    <p:extLst>
      <p:ext uri="{BB962C8B-B14F-4D97-AF65-F5344CB8AC3E}">
        <p14:creationId xmlns:p14="http://schemas.microsoft.com/office/powerpoint/2010/main" val="265067604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5FFA9D-AA8C-183A-340F-4284C2533B74}"/>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6700F163-E7FA-1B2C-D5E0-4ABC6D628E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1BD2B560-468C-AE00-FD08-190FAA9C2CD5}"/>
              </a:ext>
            </a:extLst>
          </p:cNvPr>
          <p:cNvSpPr>
            <a:spLocks noGrp="1"/>
          </p:cNvSpPr>
          <p:nvPr>
            <p:ph type="ctrTitle"/>
          </p:nvPr>
        </p:nvSpPr>
        <p:spPr>
          <a:xfrm>
            <a:off x="1524000" y="651828"/>
            <a:ext cx="9144000" cy="2387600"/>
          </a:xfrm>
        </p:spPr>
        <p:txBody>
          <a:bodyPr>
            <a:normAutofit/>
          </a:bodyPr>
          <a:lstStyle/>
          <a:p>
            <a:r>
              <a:rPr lang="en-IN" sz="5400" b="1" dirty="0">
                <a:latin typeface="Microsoft YaHei" panose="020B0503020204020204" pitchFamily="34" charset="-122"/>
                <a:ea typeface="Microsoft YaHei" panose="020B0503020204020204" pitchFamily="34" charset="-122"/>
              </a:rPr>
              <a:t>SYMPTOM CHECKER CHATBOT</a:t>
            </a:r>
          </a:p>
        </p:txBody>
      </p:sp>
      <p:sp>
        <p:nvSpPr>
          <p:cNvPr id="6" name="Rectangle 2">
            <a:extLst>
              <a:ext uri="{FF2B5EF4-FFF2-40B4-BE49-F238E27FC236}">
                <a16:creationId xmlns:a16="http://schemas.microsoft.com/office/drawing/2014/main" id="{B88AD9CD-CFB0-97F2-617B-EF1420132690}"/>
              </a:ext>
            </a:extLst>
          </p:cNvPr>
          <p:cNvSpPr>
            <a:spLocks noGrp="1" noChangeArrowheads="1"/>
          </p:cNvSpPr>
          <p:nvPr>
            <p:ph type="subTitle" idx="1"/>
          </p:nvPr>
        </p:nvSpPr>
        <p:spPr bwMode="auto">
          <a:xfrm>
            <a:off x="1524000" y="3552756"/>
            <a:ext cx="6298006"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Project Name:</a:t>
            </a:r>
            <a:r>
              <a:rPr kumimoji="0" lang="en-US" altLang="en-US" sz="18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Symptom Checker  Chatbot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Tagline:</a:t>
            </a:r>
            <a:r>
              <a:rPr lang="en-US" altLang="en-US" sz="1800" dirty="0">
                <a:latin typeface="Open sans" panose="020B0606030504020204" pitchFamily="34" charset="0"/>
                <a:ea typeface="Open sans" panose="020B0606030504020204" pitchFamily="34" charset="0"/>
                <a:cs typeface="Open sans" panose="020B0606030504020204" pitchFamily="34" charset="0"/>
              </a:rPr>
              <a:t> An  AI-powered  assistant to analyze symptoms</a:t>
            </a:r>
            <a:endParaRPr kumimoji="0" lang="en-US" altLang="en-US" sz="18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Team Name:</a:t>
            </a:r>
            <a:r>
              <a:rPr kumimoji="0" lang="en-US" altLang="en-US" sz="18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a:t>
            </a:r>
            <a:r>
              <a:rPr lang="en-US" altLang="en-US" sz="1800" dirty="0">
                <a:latin typeface="Open sans" panose="020B0606030504020204" pitchFamily="34" charset="0"/>
                <a:ea typeface="Open sans" panose="020B0606030504020204" pitchFamily="34" charset="0"/>
                <a:cs typeface="Open sans" panose="020B0606030504020204" pitchFamily="34" charset="0"/>
              </a:rPr>
              <a:t>StackSmashers</a:t>
            </a:r>
            <a:endParaRPr kumimoji="0" lang="en-US" altLang="en-US" sz="18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Event:</a:t>
            </a:r>
            <a:r>
              <a:rPr kumimoji="0" lang="en-US" altLang="en-US" sz="1800" b="0"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 DevCraft: Simon’s Command Line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rPr>
              <a:t>Date</a:t>
            </a:r>
            <a:r>
              <a:rPr lang="en-US" altLang="en-US" sz="1800" dirty="0">
                <a:latin typeface="Open sans" panose="020B0606030504020204" pitchFamily="34" charset="0"/>
                <a:ea typeface="Open sans" panose="020B0606030504020204" pitchFamily="34" charset="0"/>
                <a:cs typeface="Open sans" panose="020B0606030504020204" pitchFamily="34" charset="0"/>
              </a:rPr>
              <a:t>: 6/4/2026</a:t>
            </a: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b="1" dirty="0">
                <a:latin typeface="Open sans" panose="020B0606030504020204" pitchFamily="34" charset="0"/>
                <a:ea typeface="Open sans" panose="020B0606030504020204" pitchFamily="34" charset="0"/>
                <a:cs typeface="Open sans" panose="020B0606030504020204" pitchFamily="34" charset="0"/>
              </a:rPr>
              <a:t>Domain:  Health Care</a:t>
            </a:r>
            <a:endParaRPr kumimoji="0" lang="en-US" altLang="en-US" sz="1800" b="1" i="0" u="none" strike="noStrike" cap="none" normalizeH="0" baseline="0" dirty="0">
              <a:ln>
                <a:noFill/>
              </a:ln>
              <a:solidFill>
                <a:schemeClr val="tx1"/>
              </a:solidFill>
              <a:effectLst/>
              <a:latin typeface="Open sans" panose="020B0606030504020204" pitchFamily="34" charset="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36799314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08B3B-0FDC-937D-B730-D2DCFE2DBA5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EA4A0CE-87ED-FA30-F1CA-9ABEA24119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91440"/>
            <a:ext cx="12192000" cy="7094220"/>
          </a:xfrm>
          <a:prstGeom prst="rect">
            <a:avLst/>
          </a:prstGeom>
        </p:spPr>
      </p:pic>
      <p:sp>
        <p:nvSpPr>
          <p:cNvPr id="2" name="Title 1">
            <a:extLst>
              <a:ext uri="{FF2B5EF4-FFF2-40B4-BE49-F238E27FC236}">
                <a16:creationId xmlns:a16="http://schemas.microsoft.com/office/drawing/2014/main" id="{997E70B9-3D8E-AC8C-FD71-33A8999FB4B9}"/>
              </a:ext>
            </a:extLst>
          </p:cNvPr>
          <p:cNvSpPr>
            <a:spLocks noGrp="1"/>
          </p:cNvSpPr>
          <p:nvPr>
            <p:ph type="ctrTitle"/>
          </p:nvPr>
        </p:nvSpPr>
        <p:spPr>
          <a:xfrm>
            <a:off x="1524000" y="651828"/>
            <a:ext cx="9144000" cy="1847532"/>
          </a:xfrm>
        </p:spPr>
        <p:txBody>
          <a:bodyPr>
            <a:normAutofit/>
          </a:bodyPr>
          <a:lstStyle/>
          <a:p>
            <a:r>
              <a:rPr lang="en-IN" sz="5400" b="1" dirty="0">
                <a:latin typeface="Microsoft YaHei" panose="020B0503020204020204" pitchFamily="34" charset="-122"/>
                <a:ea typeface="Microsoft YaHei" panose="020B0503020204020204" pitchFamily="34" charset="-122"/>
              </a:rPr>
              <a:t>Problem Statement</a:t>
            </a:r>
          </a:p>
        </p:txBody>
      </p:sp>
      <p:sp>
        <p:nvSpPr>
          <p:cNvPr id="3" name="Subtitle 2">
            <a:extLst>
              <a:ext uri="{FF2B5EF4-FFF2-40B4-BE49-F238E27FC236}">
                <a16:creationId xmlns:a16="http://schemas.microsoft.com/office/drawing/2014/main" id="{F76C42E2-B03A-1F39-A18A-616A4BA0320A}"/>
              </a:ext>
            </a:extLst>
          </p:cNvPr>
          <p:cNvSpPr>
            <a:spLocks noGrp="1"/>
          </p:cNvSpPr>
          <p:nvPr>
            <p:ph type="subTitle" idx="1"/>
          </p:nvPr>
        </p:nvSpPr>
        <p:spPr>
          <a:xfrm>
            <a:off x="1524000" y="3152458"/>
            <a:ext cx="9144000" cy="2029142"/>
          </a:xfrm>
        </p:spPr>
        <p:txBody>
          <a:bodyPr>
            <a:normAutofit fontScale="25000" lnSpcReduction="20000"/>
          </a:bodyPr>
          <a:lstStyle/>
          <a:p>
            <a:endParaRPr lang="en-US" sz="3200" dirty="0"/>
          </a:p>
          <a:p>
            <a:endParaRPr lang="en-US" dirty="0"/>
          </a:p>
          <a:p>
            <a:pPr algn="just"/>
            <a:r>
              <a:rPr lang="en-US" sz="9600" dirty="0">
                <a:ea typeface="Open sans" panose="020B0606030504020204" pitchFamily="34" charset="0"/>
                <a:cs typeface="Open sans" panose="020B0606030504020204" pitchFamily="34" charset="0"/>
              </a:rPr>
              <a:t>The increasing lack of immediate access to basic healthcare guidance often leads people to ignore or misunderstand their symptoms. Many individuals are unsure whether their condition is serious or requires medical attention. There is a need for a simple system that can analyze symptoms and provide preliminary health suggestions. The problem is to develop a user-friendly application that predicts possible diseases and offers basic recommendations. This system aims to improve awareness and help users take timely health decisions</a:t>
            </a:r>
            <a:r>
              <a:rPr lang="en-US" sz="9600" dirty="0"/>
              <a:t>.</a:t>
            </a:r>
            <a:endParaRPr lang="en-IN" sz="9600" dirty="0"/>
          </a:p>
        </p:txBody>
      </p:sp>
    </p:spTree>
    <p:extLst>
      <p:ext uri="{BB962C8B-B14F-4D97-AF65-F5344CB8AC3E}">
        <p14:creationId xmlns:p14="http://schemas.microsoft.com/office/powerpoint/2010/main" val="34201397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582DC-8B8F-5773-F3B9-0B382CCDC77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21D13157-B955-921F-107B-76F8794C04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240" y="0"/>
            <a:ext cx="12207240" cy="6858000"/>
          </a:xfrm>
          <a:prstGeom prst="rect">
            <a:avLst/>
          </a:prstGeom>
        </p:spPr>
      </p:pic>
      <p:sp>
        <p:nvSpPr>
          <p:cNvPr id="2" name="Title 1">
            <a:extLst>
              <a:ext uri="{FF2B5EF4-FFF2-40B4-BE49-F238E27FC236}">
                <a16:creationId xmlns:a16="http://schemas.microsoft.com/office/drawing/2014/main" id="{84BE8F45-6E88-24FC-6BE1-2BF874E6C8E3}"/>
              </a:ext>
            </a:extLst>
          </p:cNvPr>
          <p:cNvSpPr>
            <a:spLocks noGrp="1"/>
          </p:cNvSpPr>
          <p:nvPr>
            <p:ph type="ctrTitle"/>
          </p:nvPr>
        </p:nvSpPr>
        <p:spPr>
          <a:xfrm>
            <a:off x="266700" y="651828"/>
            <a:ext cx="10401300" cy="1740852"/>
          </a:xfrm>
        </p:spPr>
        <p:txBody>
          <a:bodyPr>
            <a:normAutofit/>
          </a:bodyPr>
          <a:lstStyle/>
          <a:p>
            <a:r>
              <a:rPr lang="en-IN" sz="5400" b="1" dirty="0">
                <a:latin typeface="Microsoft YaHei" panose="020B0503020204020204" pitchFamily="34" charset="-122"/>
                <a:ea typeface="Microsoft YaHei" panose="020B0503020204020204" pitchFamily="34" charset="-122"/>
              </a:rPr>
              <a:t>Target Audience</a:t>
            </a:r>
          </a:p>
        </p:txBody>
      </p:sp>
      <p:sp>
        <p:nvSpPr>
          <p:cNvPr id="5" name="Rectangle 1">
            <a:extLst>
              <a:ext uri="{FF2B5EF4-FFF2-40B4-BE49-F238E27FC236}">
                <a16:creationId xmlns:a16="http://schemas.microsoft.com/office/drawing/2014/main" id="{23744EED-CB84-0701-25B5-F66B10ADEB9E}"/>
              </a:ext>
            </a:extLst>
          </p:cNvPr>
          <p:cNvSpPr>
            <a:spLocks noGrp="1" noChangeArrowheads="1"/>
          </p:cNvSpPr>
          <p:nvPr>
            <p:ph type="subTitle" idx="1"/>
          </p:nvPr>
        </p:nvSpPr>
        <p:spPr bwMode="auto">
          <a:xfrm>
            <a:off x="541020" y="3137303"/>
            <a:ext cx="9593580" cy="2544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l">
              <a:buFont typeface="Arial" panose="020B0604020202020204" pitchFamily="34" charset="0"/>
              <a:buChar char="•"/>
            </a:pPr>
            <a:r>
              <a:rPr lang="en-US" dirty="0"/>
              <a:t>General public needing quick health guidance </a:t>
            </a:r>
          </a:p>
          <a:p>
            <a:pPr marL="285750" indent="-285750" algn="l">
              <a:buFont typeface="Arial" panose="020B0604020202020204" pitchFamily="34" charset="0"/>
              <a:buChar char="•"/>
            </a:pPr>
            <a:r>
              <a:rPr lang="en-US" dirty="0"/>
              <a:t>Students (especially staying away from homes)</a:t>
            </a:r>
          </a:p>
          <a:p>
            <a:pPr marL="285750" indent="-285750" algn="l">
              <a:buFont typeface="Arial" panose="020B0604020202020204" pitchFamily="34" charset="0"/>
              <a:buChar char="•"/>
            </a:pPr>
            <a:r>
              <a:rPr lang="en-US" dirty="0"/>
              <a:t>Elderly people for regular health monitoring </a:t>
            </a:r>
          </a:p>
          <a:p>
            <a:pPr marL="285750" indent="-285750" algn="l">
              <a:buFont typeface="Arial" panose="020B0604020202020204" pitchFamily="34" charset="0"/>
              <a:buChar char="•"/>
            </a:pPr>
            <a:r>
              <a:rPr lang="en-US" dirty="0"/>
              <a:t>People in remote areas with limited healthcare access </a:t>
            </a:r>
          </a:p>
          <a:p>
            <a:pPr marL="285750" indent="-285750" algn="l">
              <a:buFont typeface="Arial" panose="020B0604020202020204" pitchFamily="34" charset="0"/>
              <a:buChar char="•"/>
            </a:pPr>
            <a:r>
              <a:rPr lang="en-US" dirty="0"/>
              <a:t>Working professionals for quick and convenient advice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573163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C0F17-D71F-4E5D-8264-47A9F6A268A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9C68430-CC32-D06A-B654-DB3AF9A5372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814" y="0"/>
            <a:ext cx="12378813" cy="6858000"/>
          </a:xfrm>
          <a:prstGeom prst="rect">
            <a:avLst/>
          </a:prstGeom>
        </p:spPr>
      </p:pic>
      <p:sp>
        <p:nvSpPr>
          <p:cNvPr id="2" name="Title 1">
            <a:extLst>
              <a:ext uri="{FF2B5EF4-FFF2-40B4-BE49-F238E27FC236}">
                <a16:creationId xmlns:a16="http://schemas.microsoft.com/office/drawing/2014/main" id="{8C4DFB8E-8883-9ACA-6E6F-AA08D471DCDE}"/>
              </a:ext>
            </a:extLst>
          </p:cNvPr>
          <p:cNvSpPr>
            <a:spLocks noGrp="1"/>
          </p:cNvSpPr>
          <p:nvPr>
            <p:ph type="ctrTitle"/>
          </p:nvPr>
        </p:nvSpPr>
        <p:spPr>
          <a:xfrm>
            <a:off x="580103" y="651828"/>
            <a:ext cx="10087897" cy="1350010"/>
          </a:xfrm>
        </p:spPr>
        <p:txBody>
          <a:bodyPr>
            <a:normAutofit/>
          </a:bodyPr>
          <a:lstStyle/>
          <a:p>
            <a:r>
              <a:rPr lang="en-IN" sz="5400" b="1" dirty="0">
                <a:latin typeface="Microsoft YaHei" panose="020B0503020204020204" pitchFamily="34" charset="-122"/>
                <a:ea typeface="Microsoft YaHei" panose="020B0503020204020204" pitchFamily="34" charset="-122"/>
              </a:rPr>
              <a:t>Existing Solutions</a:t>
            </a:r>
          </a:p>
        </p:txBody>
      </p:sp>
      <p:sp>
        <p:nvSpPr>
          <p:cNvPr id="5" name="Rectangle 1">
            <a:extLst>
              <a:ext uri="{FF2B5EF4-FFF2-40B4-BE49-F238E27FC236}">
                <a16:creationId xmlns:a16="http://schemas.microsoft.com/office/drawing/2014/main" id="{59C0D077-08E7-F548-090F-682A76EB4972}"/>
              </a:ext>
            </a:extLst>
          </p:cNvPr>
          <p:cNvSpPr>
            <a:spLocks noGrp="1" noChangeArrowheads="1"/>
          </p:cNvSpPr>
          <p:nvPr>
            <p:ph type="subTitle" idx="1"/>
          </p:nvPr>
        </p:nvSpPr>
        <p:spPr bwMode="auto">
          <a:xfrm>
            <a:off x="314632" y="3157776"/>
            <a:ext cx="9576620" cy="2544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gn="l">
              <a:buFont typeface="Arial" panose="020B0604020202020204" pitchFamily="34" charset="0"/>
              <a:buChar char="•"/>
            </a:pPr>
            <a:r>
              <a:rPr lang="en-US" dirty="0"/>
              <a:t>Search engines (Google) for symptom checking </a:t>
            </a:r>
          </a:p>
          <a:p>
            <a:pPr marL="342900" indent="-342900" algn="l">
              <a:buFont typeface="Arial" panose="020B0604020202020204" pitchFamily="34" charset="0"/>
              <a:buChar char="•"/>
            </a:pPr>
            <a:r>
              <a:rPr lang="en-US" dirty="0"/>
              <a:t>Health applications and symptom checker apps </a:t>
            </a:r>
          </a:p>
          <a:p>
            <a:pPr marL="342900" indent="-342900" algn="l">
              <a:buFont typeface="Arial" panose="020B0604020202020204" pitchFamily="34" charset="0"/>
              <a:buChar char="•"/>
            </a:pPr>
            <a:r>
              <a:rPr lang="en-US" dirty="0"/>
              <a:t>Medical websites and health blogs </a:t>
            </a:r>
          </a:p>
          <a:p>
            <a:pPr marL="342900" indent="-342900" algn="l">
              <a:buFont typeface="Arial" panose="020B0604020202020204" pitchFamily="34" charset="0"/>
              <a:buChar char="•"/>
            </a:pPr>
            <a:r>
              <a:rPr lang="en-US" dirty="0"/>
              <a:t>Online doctor consultations (telemedicine) </a:t>
            </a:r>
          </a:p>
          <a:p>
            <a:pPr marL="342900" indent="-342900" algn="l">
              <a:buFont typeface="Arial" panose="020B0604020202020204" pitchFamily="34" charset="0"/>
              <a:buChar char="•"/>
            </a:pPr>
            <a:r>
              <a:rPr lang="en-US" dirty="0"/>
              <a:t>Many lack personalization and are complex or costly </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361418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8E8092-3A14-DA37-5C79-FFB96B58F4FF}"/>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ED6E1A02-DDF7-89F3-98B0-23412617B5D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7316" y="0"/>
            <a:ext cx="12774238" cy="7093974"/>
          </a:xfrm>
          <a:prstGeom prst="rect">
            <a:avLst/>
          </a:prstGeom>
        </p:spPr>
      </p:pic>
      <p:sp>
        <p:nvSpPr>
          <p:cNvPr id="2" name="Title 1">
            <a:extLst>
              <a:ext uri="{FF2B5EF4-FFF2-40B4-BE49-F238E27FC236}">
                <a16:creationId xmlns:a16="http://schemas.microsoft.com/office/drawing/2014/main" id="{7B15C0A3-67F8-05CD-6B78-1C156A8A830D}"/>
              </a:ext>
            </a:extLst>
          </p:cNvPr>
          <p:cNvSpPr>
            <a:spLocks noGrp="1"/>
          </p:cNvSpPr>
          <p:nvPr>
            <p:ph type="ctrTitle"/>
          </p:nvPr>
        </p:nvSpPr>
        <p:spPr>
          <a:xfrm>
            <a:off x="226142" y="651828"/>
            <a:ext cx="10441858" cy="1678417"/>
          </a:xfrm>
        </p:spPr>
        <p:txBody>
          <a:bodyPr>
            <a:normAutofit/>
          </a:bodyPr>
          <a:lstStyle/>
          <a:p>
            <a:r>
              <a:rPr lang="en-IN" sz="5400" b="1" dirty="0">
                <a:latin typeface="Microsoft YaHei" panose="020B0503020204020204" pitchFamily="34" charset="-122"/>
                <a:ea typeface="Microsoft YaHei" panose="020B0503020204020204" pitchFamily="34" charset="-122"/>
              </a:rPr>
              <a:t>Gaps &amp; Opportunities</a:t>
            </a:r>
          </a:p>
        </p:txBody>
      </p:sp>
      <p:sp>
        <p:nvSpPr>
          <p:cNvPr id="5" name="Rectangle 1">
            <a:extLst>
              <a:ext uri="{FF2B5EF4-FFF2-40B4-BE49-F238E27FC236}">
                <a16:creationId xmlns:a16="http://schemas.microsoft.com/office/drawing/2014/main" id="{90E33BF8-A8FF-22DB-58D3-58C1AAAD3BEE}"/>
              </a:ext>
            </a:extLst>
          </p:cNvPr>
          <p:cNvSpPr>
            <a:spLocks noGrp="1" noChangeArrowheads="1"/>
          </p:cNvSpPr>
          <p:nvPr>
            <p:ph type="subTitle" idx="1"/>
          </p:nvPr>
        </p:nvSpPr>
        <p:spPr bwMode="auto">
          <a:xfrm>
            <a:off x="668594" y="3264850"/>
            <a:ext cx="10304206"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Existing tools are often complex and not localized for diverse languages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Lack of integration with telemedicine services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Limited personalization based on user history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Opportunity to provide affordable, accessible, and multilingual support</a:t>
            </a:r>
          </a:p>
        </p:txBody>
      </p:sp>
    </p:spTree>
    <p:extLst>
      <p:ext uri="{BB962C8B-B14F-4D97-AF65-F5344CB8AC3E}">
        <p14:creationId xmlns:p14="http://schemas.microsoft.com/office/powerpoint/2010/main" val="8108016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4A417-F70C-76F1-8DA7-9F84EA24E614}"/>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8AD5367-3E92-5729-6FD7-273C70AADE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819" y="-147484"/>
            <a:ext cx="12454194" cy="7005484"/>
          </a:xfrm>
          <a:prstGeom prst="rect">
            <a:avLst/>
          </a:prstGeom>
        </p:spPr>
      </p:pic>
      <p:sp>
        <p:nvSpPr>
          <p:cNvPr id="2" name="Title 1">
            <a:extLst>
              <a:ext uri="{FF2B5EF4-FFF2-40B4-BE49-F238E27FC236}">
                <a16:creationId xmlns:a16="http://schemas.microsoft.com/office/drawing/2014/main" id="{7287607C-AF5E-2567-232F-3994FF9F27D5}"/>
              </a:ext>
            </a:extLst>
          </p:cNvPr>
          <p:cNvSpPr>
            <a:spLocks noGrp="1"/>
          </p:cNvSpPr>
          <p:nvPr>
            <p:ph type="ctrTitle"/>
          </p:nvPr>
        </p:nvSpPr>
        <p:spPr>
          <a:xfrm>
            <a:off x="226141" y="651828"/>
            <a:ext cx="11238271" cy="1580095"/>
          </a:xfrm>
        </p:spPr>
        <p:txBody>
          <a:bodyPr>
            <a:normAutofit/>
          </a:bodyPr>
          <a:lstStyle/>
          <a:p>
            <a:r>
              <a:rPr lang="en-IN" sz="5400" b="1" dirty="0">
                <a:latin typeface="Microsoft YaHei" panose="020B0503020204020204" pitchFamily="34" charset="-122"/>
                <a:ea typeface="Microsoft YaHei" panose="020B0503020204020204" pitchFamily="34" charset="-122"/>
              </a:rPr>
              <a:t>Your Solution</a:t>
            </a:r>
          </a:p>
        </p:txBody>
      </p:sp>
      <p:sp>
        <p:nvSpPr>
          <p:cNvPr id="5" name="Rectangle 1">
            <a:extLst>
              <a:ext uri="{FF2B5EF4-FFF2-40B4-BE49-F238E27FC236}">
                <a16:creationId xmlns:a16="http://schemas.microsoft.com/office/drawing/2014/main" id="{84B16484-9283-7F79-8CBD-92137146FBC2}"/>
              </a:ext>
            </a:extLst>
          </p:cNvPr>
          <p:cNvSpPr>
            <a:spLocks noGrp="1" noChangeArrowheads="1"/>
          </p:cNvSpPr>
          <p:nvPr>
            <p:ph type="subTitle" idx="1"/>
          </p:nvPr>
        </p:nvSpPr>
        <p:spPr bwMode="auto">
          <a:xfrm>
            <a:off x="875071" y="2850665"/>
            <a:ext cx="10176386" cy="22159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Web-based symptom checker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Predicts disease based on user input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Provides medicines, precautions, and doctor advice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Simple, fast, and user-friendly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Helps in early awareness and decision-makin</a:t>
            </a:r>
            <a:r>
              <a:rPr lang="en-US" altLang="en-US" dirty="0"/>
              <a:t>g</a:t>
            </a:r>
            <a:endParaRPr kumimoji="0" lang="en-US" altLang="en-US" b="0" i="0" u="none" strike="noStrike" cap="none" normalizeH="0" baseline="0" dirty="0">
              <a:ln>
                <a:noFill/>
              </a:ln>
              <a:solidFill>
                <a:schemeClr val="tx1"/>
              </a:solidFill>
              <a:effectLst/>
            </a:endParaRPr>
          </a:p>
        </p:txBody>
      </p:sp>
    </p:spTree>
    <p:extLst>
      <p:ext uri="{BB962C8B-B14F-4D97-AF65-F5344CB8AC3E}">
        <p14:creationId xmlns:p14="http://schemas.microsoft.com/office/powerpoint/2010/main" val="13479144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72507-FD22-2E16-53F4-E66535A41E90}"/>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CFBCE28E-E731-156C-EDC9-D5CD678B6DB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444871" cy="7000240"/>
          </a:xfrm>
          <a:prstGeom prst="rect">
            <a:avLst/>
          </a:prstGeom>
        </p:spPr>
      </p:pic>
      <p:sp>
        <p:nvSpPr>
          <p:cNvPr id="2" name="Title 1">
            <a:extLst>
              <a:ext uri="{FF2B5EF4-FFF2-40B4-BE49-F238E27FC236}">
                <a16:creationId xmlns:a16="http://schemas.microsoft.com/office/drawing/2014/main" id="{7C95F80B-DB77-DFBE-02AB-06459A8C987C}"/>
              </a:ext>
            </a:extLst>
          </p:cNvPr>
          <p:cNvSpPr>
            <a:spLocks noGrp="1"/>
          </p:cNvSpPr>
          <p:nvPr>
            <p:ph type="ctrTitle"/>
          </p:nvPr>
        </p:nvSpPr>
        <p:spPr>
          <a:xfrm>
            <a:off x="1524000" y="651828"/>
            <a:ext cx="9144000" cy="1477328"/>
          </a:xfrm>
        </p:spPr>
        <p:txBody>
          <a:bodyPr>
            <a:normAutofit/>
          </a:bodyPr>
          <a:lstStyle/>
          <a:p>
            <a:r>
              <a:rPr lang="en-IN" sz="5400" b="1" dirty="0">
                <a:latin typeface="Microsoft YaHei" panose="020B0503020204020204" pitchFamily="34" charset="-122"/>
                <a:ea typeface="Microsoft YaHei" panose="020B0503020204020204" pitchFamily="34" charset="-122"/>
              </a:rPr>
              <a:t>Key Features</a:t>
            </a:r>
          </a:p>
        </p:txBody>
      </p:sp>
      <p:sp>
        <p:nvSpPr>
          <p:cNvPr id="3" name="Subtitle 2">
            <a:extLst>
              <a:ext uri="{FF2B5EF4-FFF2-40B4-BE49-F238E27FC236}">
                <a16:creationId xmlns:a16="http://schemas.microsoft.com/office/drawing/2014/main" id="{AF0A093E-F6A2-06B2-265C-B880832BEA7D}"/>
              </a:ext>
            </a:extLst>
          </p:cNvPr>
          <p:cNvSpPr>
            <a:spLocks noGrp="1"/>
          </p:cNvSpPr>
          <p:nvPr>
            <p:ph type="subTitle" idx="1"/>
          </p:nvPr>
        </p:nvSpPr>
        <p:spPr>
          <a:xfrm>
            <a:off x="934065" y="2780984"/>
            <a:ext cx="9733935" cy="2476816"/>
          </a:xfrm>
        </p:spPr>
        <p:txBody>
          <a:bodyPr>
            <a:normAutofit fontScale="92500" lnSpcReduction="10000"/>
          </a:bodyPr>
          <a:lstStyle/>
          <a:p>
            <a:pPr algn="l"/>
            <a:endParaRPr lang="en-US" b="1" dirty="0"/>
          </a:p>
          <a:p>
            <a:pPr marL="342900" indent="-342900" algn="l">
              <a:buFont typeface="Arial" panose="020B0604020202020204" pitchFamily="34" charset="0"/>
              <a:buChar char="•"/>
            </a:pPr>
            <a:r>
              <a:rPr lang="en-US" sz="2600" dirty="0"/>
              <a:t>Symptom-based disease prediction </a:t>
            </a:r>
          </a:p>
          <a:p>
            <a:pPr marL="342900" indent="-342900" algn="l">
              <a:buFont typeface="Arial" panose="020B0604020202020204" pitchFamily="34" charset="0"/>
              <a:buChar char="•"/>
            </a:pPr>
            <a:r>
              <a:rPr lang="en-US" sz="2600" dirty="0"/>
              <a:t>Severity and duration analysis </a:t>
            </a:r>
          </a:p>
          <a:p>
            <a:pPr marL="342900" indent="-342900" algn="l">
              <a:buFont typeface="Arial" panose="020B0604020202020204" pitchFamily="34" charset="0"/>
              <a:buChar char="•"/>
            </a:pPr>
            <a:r>
              <a:rPr lang="en-US" sz="2600" dirty="0"/>
              <a:t>Medical history consideration </a:t>
            </a:r>
          </a:p>
          <a:p>
            <a:pPr marL="342900" indent="-342900" algn="l">
              <a:buFont typeface="Arial" panose="020B0604020202020204" pitchFamily="34" charset="0"/>
              <a:buChar char="•"/>
            </a:pPr>
            <a:r>
              <a:rPr lang="en-US" sz="2600" dirty="0"/>
              <a:t>Medicine suggestions </a:t>
            </a:r>
          </a:p>
          <a:p>
            <a:pPr marL="342900" indent="-342900" algn="l">
              <a:buFont typeface="Arial" panose="020B0604020202020204" pitchFamily="34" charset="0"/>
              <a:buChar char="•"/>
            </a:pPr>
            <a:r>
              <a:rPr lang="en-US" sz="2600" dirty="0"/>
              <a:t>Precautions and doctor advice </a:t>
            </a:r>
          </a:p>
          <a:p>
            <a:endParaRPr lang="en-US" dirty="0"/>
          </a:p>
        </p:txBody>
      </p:sp>
    </p:spTree>
    <p:extLst>
      <p:ext uri="{BB962C8B-B14F-4D97-AF65-F5344CB8AC3E}">
        <p14:creationId xmlns:p14="http://schemas.microsoft.com/office/powerpoint/2010/main" val="16072100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49CE99-2961-B95A-6509-047601B344AE}"/>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25206E9-DF7E-9DFF-CAC2-03673EB754A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81795BD-090E-6657-E419-87C2FF670FCE}"/>
              </a:ext>
            </a:extLst>
          </p:cNvPr>
          <p:cNvSpPr>
            <a:spLocks noGrp="1"/>
          </p:cNvSpPr>
          <p:nvPr>
            <p:ph type="ctrTitle"/>
          </p:nvPr>
        </p:nvSpPr>
        <p:spPr>
          <a:xfrm>
            <a:off x="1524000" y="-474562"/>
            <a:ext cx="9144000" cy="1821581"/>
          </a:xfrm>
        </p:spPr>
        <p:txBody>
          <a:bodyPr/>
          <a:lstStyle/>
          <a:p>
            <a:r>
              <a:rPr lang="en-IN" b="1" dirty="0">
                <a:latin typeface="Montserrat" panose="00000500000000000000" pitchFamily="2" charset="0"/>
              </a:rPr>
              <a:t>System Architecture</a:t>
            </a:r>
          </a:p>
        </p:txBody>
      </p:sp>
      <p:pic>
        <p:nvPicPr>
          <p:cNvPr id="6" name="Picture 5">
            <a:extLst>
              <a:ext uri="{FF2B5EF4-FFF2-40B4-BE49-F238E27FC236}">
                <a16:creationId xmlns:a16="http://schemas.microsoft.com/office/drawing/2014/main" id="{A4558C1B-626F-1D32-942E-C9C059DE0B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71019" y="1622323"/>
            <a:ext cx="6528620" cy="5112774"/>
          </a:xfrm>
          <a:prstGeom prst="rect">
            <a:avLst/>
          </a:prstGeom>
        </p:spPr>
      </p:pic>
    </p:spTree>
    <p:extLst>
      <p:ext uri="{BB962C8B-B14F-4D97-AF65-F5344CB8AC3E}">
        <p14:creationId xmlns:p14="http://schemas.microsoft.com/office/powerpoint/2010/main" val="6963139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081B4-DCB3-98E2-06A8-576EFC8065B7}"/>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517783E-C433-A152-F467-61CD75CD35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6F1FA6C2-5A0A-1FF0-1EBE-5E203A16E6C1}"/>
              </a:ext>
            </a:extLst>
          </p:cNvPr>
          <p:cNvSpPr>
            <a:spLocks noGrp="1"/>
          </p:cNvSpPr>
          <p:nvPr>
            <p:ph type="ctrTitle"/>
          </p:nvPr>
        </p:nvSpPr>
        <p:spPr>
          <a:xfrm>
            <a:off x="1524000" y="651828"/>
            <a:ext cx="9144000" cy="2387600"/>
          </a:xfrm>
        </p:spPr>
        <p:txBody>
          <a:bodyPr/>
          <a:lstStyle/>
          <a:p>
            <a:r>
              <a:rPr lang="en-IN" b="1" dirty="0">
                <a:latin typeface="Montserrat" panose="00000500000000000000" pitchFamily="2" charset="0"/>
              </a:rPr>
              <a:t>Tech Stack</a:t>
            </a:r>
          </a:p>
        </p:txBody>
      </p:sp>
      <p:sp>
        <p:nvSpPr>
          <p:cNvPr id="3" name="Subtitle 2">
            <a:extLst>
              <a:ext uri="{FF2B5EF4-FFF2-40B4-BE49-F238E27FC236}">
                <a16:creationId xmlns:a16="http://schemas.microsoft.com/office/drawing/2014/main" id="{3C679BA1-238F-16C1-81DD-F89092E26652}"/>
              </a:ext>
            </a:extLst>
          </p:cNvPr>
          <p:cNvSpPr>
            <a:spLocks noGrp="1"/>
          </p:cNvSpPr>
          <p:nvPr>
            <p:ph type="subTitle" idx="1"/>
          </p:nvPr>
        </p:nvSpPr>
        <p:spPr>
          <a:xfrm flipV="1">
            <a:off x="10292080" y="7823199"/>
            <a:ext cx="375920" cy="137302"/>
          </a:xfrm>
        </p:spPr>
        <p:txBody>
          <a:bodyPr>
            <a:normAutofit fontScale="25000" lnSpcReduction="20000"/>
          </a:bodyPr>
          <a:lstStyle/>
          <a:p>
            <a:endParaRPr lang="en-US" dirty="0"/>
          </a:p>
        </p:txBody>
      </p:sp>
      <p:sp>
        <p:nvSpPr>
          <p:cNvPr id="5" name="Rectangle 1">
            <a:extLst>
              <a:ext uri="{FF2B5EF4-FFF2-40B4-BE49-F238E27FC236}">
                <a16:creationId xmlns:a16="http://schemas.microsoft.com/office/drawing/2014/main" id="{743E1698-812D-255C-A659-530CF2266325}"/>
              </a:ext>
            </a:extLst>
          </p:cNvPr>
          <p:cNvSpPr>
            <a:spLocks noChangeArrowheads="1"/>
          </p:cNvSpPr>
          <p:nvPr/>
        </p:nvSpPr>
        <p:spPr bwMode="auto">
          <a:xfrm>
            <a:off x="1524000" y="2858364"/>
            <a:ext cx="9143999" cy="28956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ea typeface="Open sans" panose="020B0606030504020204" pitchFamily="34" charset="0"/>
                <a:cs typeface="Open sans" panose="020B0606030504020204" pitchFamily="34" charset="0"/>
              </a:rPr>
              <a:t>HTML is used to design the user interface and input forms </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ea typeface="Open sans" panose="020B0606030504020204" pitchFamily="34" charset="0"/>
                <a:cs typeface="Open sans" panose="020B0606030504020204" pitchFamily="34" charset="0"/>
              </a:rPr>
              <a:t>Java is used as the backend for processing data </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ea typeface="Open sans" panose="020B0606030504020204" pitchFamily="34" charset="0"/>
                <a:cs typeface="Open sans" panose="020B0606030504020204" pitchFamily="34" charset="0"/>
              </a:rPr>
              <a:t>The system analyzes symptoms using predefined log</a:t>
            </a:r>
            <a:r>
              <a:rPr lang="en-US" altLang="en-US" sz="2400" dirty="0">
                <a:ea typeface="Open sans" panose="020B0606030504020204" pitchFamily="34" charset="0"/>
                <a:cs typeface="Open sans" panose="020B0606030504020204" pitchFamily="34" charset="0"/>
              </a:rPr>
              <a:t>ic</a:t>
            </a:r>
          </a:p>
          <a:p>
            <a:pPr marL="0" marR="0" lvl="0" indent="0"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ea typeface="Open sans" panose="020B0606030504020204" pitchFamily="34" charset="0"/>
                <a:cs typeface="Open sans" panose="020B0606030504020204" pitchFamily="34" charset="0"/>
              </a:rPr>
              <a:t>It predicts possible diseases based on inputs </a:t>
            </a:r>
          </a:p>
          <a:p>
            <a:pPr marL="0" marR="0" lvl="0" indent="0"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ea typeface="Open sans" panose="020B0606030504020204" pitchFamily="34" charset="0"/>
                <a:cs typeface="Open sans" panose="020B0606030504020204" pitchFamily="34" charset="0"/>
              </a:rPr>
              <a:t>Displays results like medicines, precautions, and suggestions </a:t>
            </a:r>
          </a:p>
        </p:txBody>
      </p:sp>
    </p:spTree>
    <p:extLst>
      <p:ext uri="{BB962C8B-B14F-4D97-AF65-F5344CB8AC3E}">
        <p14:creationId xmlns:p14="http://schemas.microsoft.com/office/powerpoint/2010/main" val="21486831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51831-6846-427E-64BB-10140215884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9E831684-E944-D21A-AEB7-C0CD0756840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2931271-7B83-E6B0-4697-A9B3A4A0B3E0}"/>
              </a:ext>
            </a:extLst>
          </p:cNvPr>
          <p:cNvSpPr>
            <a:spLocks noGrp="1"/>
          </p:cNvSpPr>
          <p:nvPr>
            <p:ph type="ctrTitle"/>
          </p:nvPr>
        </p:nvSpPr>
        <p:spPr>
          <a:xfrm>
            <a:off x="1524000" y="651828"/>
            <a:ext cx="9144000" cy="841692"/>
          </a:xfrm>
        </p:spPr>
        <p:txBody>
          <a:bodyPr>
            <a:normAutofit/>
          </a:bodyPr>
          <a:lstStyle/>
          <a:p>
            <a:r>
              <a:rPr lang="en-IN" sz="5400" b="1" dirty="0">
                <a:latin typeface="Microsoft YaHei" panose="020B0503020204020204" pitchFamily="34" charset="-122"/>
                <a:ea typeface="Microsoft YaHei" panose="020B0503020204020204" pitchFamily="34" charset="-122"/>
              </a:rPr>
              <a:t>Workflow</a:t>
            </a:r>
          </a:p>
        </p:txBody>
      </p:sp>
      <p:sp>
        <p:nvSpPr>
          <p:cNvPr id="3" name="Subtitle 2">
            <a:extLst>
              <a:ext uri="{FF2B5EF4-FFF2-40B4-BE49-F238E27FC236}">
                <a16:creationId xmlns:a16="http://schemas.microsoft.com/office/drawing/2014/main" id="{E9F3AC6F-97B4-C038-5116-BCDB0E747F31}"/>
              </a:ext>
            </a:extLst>
          </p:cNvPr>
          <p:cNvSpPr>
            <a:spLocks noGrp="1"/>
          </p:cNvSpPr>
          <p:nvPr>
            <p:ph type="subTitle" idx="1"/>
          </p:nvPr>
        </p:nvSpPr>
        <p:spPr/>
        <p:txBody>
          <a:bodyPr/>
          <a:lstStyle/>
          <a:p>
            <a:endParaRPr lang="en-US"/>
          </a:p>
        </p:txBody>
      </p:sp>
      <p:pic>
        <p:nvPicPr>
          <p:cNvPr id="6" name="Picture 5">
            <a:extLst>
              <a:ext uri="{FF2B5EF4-FFF2-40B4-BE49-F238E27FC236}">
                <a16:creationId xmlns:a16="http://schemas.microsoft.com/office/drawing/2014/main" id="{A513A530-858D-CE2A-A83D-2E693CA90D6B}"/>
              </a:ext>
            </a:extLst>
          </p:cNvPr>
          <p:cNvPicPr>
            <a:picLocks noChangeAspect="1"/>
          </p:cNvPicPr>
          <p:nvPr/>
        </p:nvPicPr>
        <p:blipFill>
          <a:blip r:embed="rId3"/>
          <a:stretch>
            <a:fillRect/>
          </a:stretch>
        </p:blipFill>
        <p:spPr>
          <a:xfrm>
            <a:off x="782320" y="1818640"/>
            <a:ext cx="10769600" cy="4866640"/>
          </a:xfrm>
          <a:prstGeom prst="rect">
            <a:avLst/>
          </a:prstGeom>
        </p:spPr>
      </p:pic>
    </p:spTree>
    <p:extLst>
      <p:ext uri="{BB962C8B-B14F-4D97-AF65-F5344CB8AC3E}">
        <p14:creationId xmlns:p14="http://schemas.microsoft.com/office/powerpoint/2010/main" val="7211360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2F5D3-4344-4362-805C-8F963B27804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3FB6C13-3B8B-52D8-104D-1E08E396AD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1120"/>
            <a:ext cx="12192000" cy="6858000"/>
          </a:xfrm>
          <a:prstGeom prst="rect">
            <a:avLst/>
          </a:prstGeom>
        </p:spPr>
      </p:pic>
      <p:sp>
        <p:nvSpPr>
          <p:cNvPr id="2" name="Title 1">
            <a:extLst>
              <a:ext uri="{FF2B5EF4-FFF2-40B4-BE49-F238E27FC236}">
                <a16:creationId xmlns:a16="http://schemas.microsoft.com/office/drawing/2014/main" id="{08824925-7E47-111A-5B2A-714F7E54B7D0}"/>
              </a:ext>
            </a:extLst>
          </p:cNvPr>
          <p:cNvSpPr>
            <a:spLocks noGrp="1"/>
          </p:cNvSpPr>
          <p:nvPr>
            <p:ph type="ctrTitle"/>
          </p:nvPr>
        </p:nvSpPr>
        <p:spPr>
          <a:xfrm>
            <a:off x="406400" y="651828"/>
            <a:ext cx="10261600" cy="1350010"/>
          </a:xfrm>
        </p:spPr>
        <p:txBody>
          <a:bodyPr>
            <a:normAutofit/>
          </a:bodyPr>
          <a:lstStyle/>
          <a:p>
            <a:r>
              <a:rPr lang="en-IN" sz="5400" b="1" dirty="0">
                <a:latin typeface="Microsoft YaHei" panose="020B0503020204020204" pitchFamily="34" charset="-122"/>
                <a:ea typeface="Microsoft YaHei" panose="020B0503020204020204" pitchFamily="34" charset="-122"/>
              </a:rPr>
              <a:t>Impact</a:t>
            </a:r>
          </a:p>
        </p:txBody>
      </p:sp>
      <p:sp>
        <p:nvSpPr>
          <p:cNvPr id="6" name="Rectangle 2">
            <a:extLst>
              <a:ext uri="{FF2B5EF4-FFF2-40B4-BE49-F238E27FC236}">
                <a16:creationId xmlns:a16="http://schemas.microsoft.com/office/drawing/2014/main" id="{6C49194D-2F4B-9CD0-9AEE-D978934FB007}"/>
              </a:ext>
            </a:extLst>
          </p:cNvPr>
          <p:cNvSpPr>
            <a:spLocks noGrp="1" noChangeArrowheads="1"/>
          </p:cNvSpPr>
          <p:nvPr>
            <p:ph type="subTitle" idx="1"/>
          </p:nvPr>
        </p:nvSpPr>
        <p:spPr bwMode="auto">
          <a:xfrm>
            <a:off x="822960" y="3460423"/>
            <a:ext cx="6886388"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Reduces unnecessary hospital visits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Provides early detection of serious conditions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Empowers rural and underserved communities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Saves time and cost for patients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rPr>
              <a:t>Promotes health awareness and self-car</a:t>
            </a:r>
          </a:p>
        </p:txBody>
      </p:sp>
    </p:spTree>
    <p:extLst>
      <p:ext uri="{BB962C8B-B14F-4D97-AF65-F5344CB8AC3E}">
        <p14:creationId xmlns:p14="http://schemas.microsoft.com/office/powerpoint/2010/main" val="20012451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9A0058-2A1B-9A2D-4ACF-404877CEEC9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9AED9E8-8E9E-772E-A148-23AF520FE6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F38C520-B6A8-E5A5-6C12-E50EB51E1C3E}"/>
              </a:ext>
            </a:extLst>
          </p:cNvPr>
          <p:cNvSpPr>
            <a:spLocks noGrp="1"/>
          </p:cNvSpPr>
          <p:nvPr>
            <p:ph type="ctrTitle"/>
          </p:nvPr>
        </p:nvSpPr>
        <p:spPr>
          <a:xfrm>
            <a:off x="792480" y="651828"/>
            <a:ext cx="9875520" cy="1116012"/>
          </a:xfrm>
        </p:spPr>
        <p:txBody>
          <a:bodyPr>
            <a:normAutofit/>
          </a:bodyPr>
          <a:lstStyle/>
          <a:p>
            <a:r>
              <a:rPr lang="en-IN" sz="5400" b="1" dirty="0">
                <a:latin typeface="Microsoft YaHei" panose="020B0503020204020204" pitchFamily="34" charset="-122"/>
                <a:ea typeface="Microsoft YaHei" panose="020B0503020204020204" pitchFamily="34" charset="-122"/>
              </a:rPr>
              <a:t>Future Scope</a:t>
            </a:r>
          </a:p>
        </p:txBody>
      </p:sp>
      <p:sp>
        <p:nvSpPr>
          <p:cNvPr id="5" name="Rectangle 1">
            <a:extLst>
              <a:ext uri="{FF2B5EF4-FFF2-40B4-BE49-F238E27FC236}">
                <a16:creationId xmlns:a16="http://schemas.microsoft.com/office/drawing/2014/main" id="{C2C8BDE9-39A9-9889-D302-5091CD8135EB}"/>
              </a:ext>
            </a:extLst>
          </p:cNvPr>
          <p:cNvSpPr>
            <a:spLocks noGrp="1" noChangeArrowheads="1"/>
          </p:cNvSpPr>
          <p:nvPr>
            <p:ph type="subTitle" idx="1"/>
          </p:nvPr>
        </p:nvSpPr>
        <p:spPr bwMode="auto">
          <a:xfrm>
            <a:off x="406400" y="2537093"/>
            <a:ext cx="1026160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Wearable Device Integration</a:t>
            </a:r>
            <a:r>
              <a:rPr kumimoji="0" lang="en-US" altLang="en-US" b="0" i="0" u="none" strike="noStrike" cap="none" normalizeH="0" baseline="0" dirty="0">
                <a:ln>
                  <a:noFill/>
                </a:ln>
                <a:solidFill>
                  <a:schemeClr val="tx1"/>
                </a:solidFill>
                <a:effectLst/>
              </a:rPr>
              <a:t> – Connect with smartwatches and fitness trackers for real-time health monitoring.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Voice &amp; Multilingual Support</a:t>
            </a:r>
            <a:r>
              <a:rPr kumimoji="0" lang="en-US" altLang="en-US" b="0" i="0" u="none" strike="noStrike" cap="none" normalizeH="0" baseline="0" dirty="0">
                <a:ln>
                  <a:noFill/>
                </a:ln>
                <a:solidFill>
                  <a:schemeClr val="tx1"/>
                </a:solidFill>
                <a:effectLst/>
              </a:rPr>
              <a:t> – Enable voice-based symptom entry and regional language accessibility.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Predictive Health Analytics</a:t>
            </a:r>
            <a:r>
              <a:rPr kumimoji="0" lang="en-US" altLang="en-US" b="0" i="0" u="none" strike="noStrike" cap="none" normalizeH="0" baseline="0" dirty="0">
                <a:ln>
                  <a:noFill/>
                </a:ln>
                <a:solidFill>
                  <a:schemeClr val="tx1"/>
                </a:solidFill>
                <a:effectLst/>
              </a:rPr>
              <a:t> – Use AI to forecast potential health risks based on user data trends.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Mental Health Module</a:t>
            </a:r>
            <a:r>
              <a:rPr kumimoji="0" lang="en-US" altLang="en-US" b="0" i="0" u="none" strike="noStrike" cap="none" normalizeH="0" baseline="0" dirty="0">
                <a:ln>
                  <a:noFill/>
                </a:ln>
                <a:solidFill>
                  <a:schemeClr val="tx1"/>
                </a:solidFill>
                <a:effectLst/>
              </a:rPr>
              <a:t> – Expand into stress and mood tracking for holistic well-being.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1" i="0" u="none" strike="noStrike" cap="none" normalizeH="0" baseline="0" dirty="0">
                <a:ln>
                  <a:noFill/>
                </a:ln>
                <a:solidFill>
                  <a:schemeClr val="tx1"/>
                </a:solidFill>
                <a:effectLst/>
              </a:rPr>
              <a:t>Blockchain-Based Data Security</a:t>
            </a:r>
            <a:r>
              <a:rPr kumimoji="0" lang="en-US" altLang="en-US" b="0" i="0" u="none" strike="noStrike" cap="none" normalizeH="0" baseline="0" dirty="0">
                <a:ln>
                  <a:noFill/>
                </a:ln>
                <a:solidFill>
                  <a:schemeClr val="tx1"/>
                </a:solidFill>
                <a:effectLst/>
              </a:rPr>
              <a:t> – Ensure transparent, tamper-proof medical record management.</a:t>
            </a:r>
          </a:p>
        </p:txBody>
      </p:sp>
    </p:spTree>
    <p:extLst>
      <p:ext uri="{BB962C8B-B14F-4D97-AF65-F5344CB8AC3E}">
        <p14:creationId xmlns:p14="http://schemas.microsoft.com/office/powerpoint/2010/main" val="36246772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5C9BC0-B449-3880-DCF1-3623A9429386}"/>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F3C3DCD4-1187-52B4-EA97-0B89E26E6D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73024"/>
            <a:ext cx="12192000" cy="7042784"/>
          </a:xfrm>
          <a:prstGeom prst="rect">
            <a:avLst/>
          </a:prstGeom>
        </p:spPr>
      </p:pic>
      <p:sp>
        <p:nvSpPr>
          <p:cNvPr id="2" name="Title 1">
            <a:extLst>
              <a:ext uri="{FF2B5EF4-FFF2-40B4-BE49-F238E27FC236}">
                <a16:creationId xmlns:a16="http://schemas.microsoft.com/office/drawing/2014/main" id="{BCC69965-D790-CADB-8E84-39390523C4C1}"/>
              </a:ext>
            </a:extLst>
          </p:cNvPr>
          <p:cNvSpPr>
            <a:spLocks noGrp="1"/>
          </p:cNvSpPr>
          <p:nvPr>
            <p:ph type="ctrTitle"/>
          </p:nvPr>
        </p:nvSpPr>
        <p:spPr>
          <a:xfrm>
            <a:off x="1524000" y="651828"/>
            <a:ext cx="9144000" cy="1420812"/>
          </a:xfrm>
        </p:spPr>
        <p:txBody>
          <a:bodyPr>
            <a:normAutofit/>
          </a:bodyPr>
          <a:lstStyle/>
          <a:p>
            <a:r>
              <a:rPr lang="en-IN" sz="5400" b="1" dirty="0">
                <a:latin typeface="Microsoft YaHei" panose="020B0503020204020204" pitchFamily="34" charset="-122"/>
                <a:ea typeface="Microsoft YaHei" panose="020B0503020204020204" pitchFamily="34" charset="-122"/>
              </a:rPr>
              <a:t>Team Info</a:t>
            </a:r>
          </a:p>
        </p:txBody>
      </p:sp>
      <p:sp>
        <p:nvSpPr>
          <p:cNvPr id="6" name="Rectangle 2">
            <a:extLst>
              <a:ext uri="{FF2B5EF4-FFF2-40B4-BE49-F238E27FC236}">
                <a16:creationId xmlns:a16="http://schemas.microsoft.com/office/drawing/2014/main" id="{B8A35DE3-EB13-2BDB-C6EF-256EC4ACC713}"/>
              </a:ext>
            </a:extLst>
          </p:cNvPr>
          <p:cNvSpPr>
            <a:spLocks noGrp="1" noChangeArrowheads="1"/>
          </p:cNvSpPr>
          <p:nvPr>
            <p:ph type="subTitle" idx="1"/>
          </p:nvPr>
        </p:nvSpPr>
        <p:spPr bwMode="auto">
          <a:xfrm>
            <a:off x="4043681" y="3525057"/>
            <a:ext cx="5568250" cy="18066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l"/>
            <a:r>
              <a:rPr lang="en-US" b="1" dirty="0">
                <a:ea typeface="Open sans" panose="020B0606030504020204" pitchFamily="34" charset="0"/>
                <a:cs typeface="Open sans" panose="020B0606030504020204" pitchFamily="34" charset="0"/>
              </a:rPr>
              <a:t>Member 1: html development</a:t>
            </a:r>
            <a:endParaRPr lang="en-US" dirty="0">
              <a:ea typeface="Open sans" panose="020B0606030504020204" pitchFamily="34" charset="0"/>
              <a:cs typeface="Open sans" panose="020B0606030504020204" pitchFamily="34" charset="0"/>
            </a:endParaRPr>
          </a:p>
          <a:p>
            <a:pPr algn="l"/>
            <a:r>
              <a:rPr lang="en-US" b="1" dirty="0">
                <a:ea typeface="Open sans" panose="020B0606030504020204" pitchFamily="34" charset="0"/>
                <a:cs typeface="Open sans" panose="020B0606030504020204" pitchFamily="34" charset="0"/>
              </a:rPr>
              <a:t>Member 2: Frontend developer</a:t>
            </a:r>
            <a:endParaRPr lang="en-US" dirty="0">
              <a:ea typeface="Open sans" panose="020B0606030504020204" pitchFamily="34" charset="0"/>
              <a:cs typeface="Open sans" panose="020B0606030504020204" pitchFamily="34" charset="0"/>
            </a:endParaRPr>
          </a:p>
          <a:p>
            <a:pPr algn="l"/>
            <a:r>
              <a:rPr lang="en-US" b="1" dirty="0">
                <a:ea typeface="Open sans" panose="020B0606030504020204" pitchFamily="34" charset="0"/>
                <a:cs typeface="Open sans" panose="020B0606030504020204" pitchFamily="34" charset="0"/>
              </a:rPr>
              <a:t>Member 3: Backend developer</a:t>
            </a:r>
            <a:endParaRPr lang="en-US" dirty="0">
              <a:ea typeface="Open sans" panose="020B0606030504020204" pitchFamily="34" charset="0"/>
              <a:cs typeface="Open sans" panose="020B0606030504020204" pitchFamily="34" charset="0"/>
            </a:endParaRPr>
          </a:p>
          <a:p>
            <a:pPr algn="l"/>
            <a:r>
              <a:rPr lang="en-US" b="1" dirty="0">
                <a:ea typeface="Open sans" panose="020B0606030504020204" pitchFamily="34" charset="0"/>
                <a:cs typeface="Open sans" panose="020B0606030504020204" pitchFamily="34" charset="0"/>
              </a:rPr>
              <a:t>Member 4: Healthcare domain expert</a:t>
            </a:r>
            <a:endParaRPr lang="en-US" dirty="0">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1353670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170</TotalTime>
  <Words>449</Words>
  <Application>Microsoft Office PowerPoint</Application>
  <PresentationFormat>Widescreen</PresentationFormat>
  <Paragraphs>68</Paragraphs>
  <Slides>13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Microsoft YaHei</vt:lpstr>
      <vt:lpstr>Arial</vt:lpstr>
      <vt:lpstr>Calibri</vt:lpstr>
      <vt:lpstr>Calibri Light</vt:lpstr>
      <vt:lpstr>Montserrat</vt:lpstr>
      <vt:lpstr>Open sans</vt:lpstr>
      <vt:lpstr>Office Theme</vt:lpstr>
      <vt:lpstr>SYMPTOM CHECKER CHATBOT</vt:lpstr>
      <vt:lpstr>Problem Statement</vt:lpstr>
      <vt:lpstr>Target Audience</vt:lpstr>
      <vt:lpstr>Existing Solutions</vt:lpstr>
      <vt:lpstr>Gaps &amp; Opportunities</vt:lpstr>
      <vt:lpstr>Your Solution</vt:lpstr>
      <vt:lpstr>Key Features</vt:lpstr>
      <vt:lpstr>System Architecture</vt:lpstr>
      <vt:lpstr>Tech Stack</vt:lpstr>
      <vt:lpstr>Workflow</vt:lpstr>
      <vt:lpstr>Impact</vt:lpstr>
      <vt:lpstr>Future Scope</vt:lpstr>
      <vt:lpstr>Team Info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 Pranav</dc:creator>
  <cp:lastModifiedBy>Vyshnavi Mallipeddu</cp:lastModifiedBy>
  <cp:revision>23</cp:revision>
  <dcterms:created xsi:type="dcterms:W3CDTF">2026-04-04T11:36:02Z</dcterms:created>
  <dcterms:modified xsi:type="dcterms:W3CDTF">2026-04-06T09:43:50Z</dcterms:modified>
</cp:coreProperties>
</file>